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338D"/>
            </a:solidFill>
          </c:spPr>
          <c:cat>
            <c:strRef>
              <c:f>Sheet1!$A$2:$A$8</c:f>
              <c:strCache>
                <c:ptCount val="7"/>
                <c:pt idx="0">
                  <c:v>Alice</c:v>
                </c:pt>
                <c:pt idx="1">
                  <c:v>Bob</c:v>
                </c:pt>
                <c:pt idx="2">
                  <c:v>Charlie</c:v>
                </c:pt>
                <c:pt idx="3">
                  <c:v>David</c:v>
                </c:pt>
                <c:pt idx="4">
                  <c:v>Eve</c:v>
                </c:pt>
                <c:pt idx="5">
                  <c:v>Frank</c:v>
                </c:pt>
                <c:pt idx="6">
                  <c:v>Grace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64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338D"/>
            </a:solidFill>
          </c:spPr>
          <c:cat>
            <c:strRef>
              <c:f>Sheet1!$A$2:$A$5</c:f>
              <c:strCache>
                <c:ptCount val="4"/>
                <c:pt idx="0">
                  <c:v>22.0-26.5</c:v>
                </c:pt>
                <c:pt idx="1">
                  <c:v>26.5-31.0</c:v>
                </c:pt>
                <c:pt idx="2">
                  <c:v>31.0-35.5</c:v>
                </c:pt>
                <c:pt idx="3">
                  <c:v>35.5-40.0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64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338D"/>
            </a:solidFill>
          </c:spPr>
          <c:cat>
            <c:strRef>
              <c:f>Sheet1!$A$2:$A$8</c:f>
              <c:strCache>
                <c:ptCount val="7"/>
                <c:pt idx="0">
                  <c:v>85</c:v>
                </c:pt>
                <c:pt idx="1">
                  <c:v>90</c:v>
                </c:pt>
                <c:pt idx="2">
                  <c:v>75</c:v>
                </c:pt>
                <c:pt idx="3">
                  <c:v>88</c:v>
                </c:pt>
                <c:pt idx="4">
                  <c:v>95</c:v>
                </c:pt>
                <c:pt idx="5">
                  <c:v>80</c:v>
                </c:pt>
                <c:pt idx="6">
                  <c:v>70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64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/>
          </c:spPr>
          <c:dPt>
            <c:idx val="0"/>
            <c:spPr>
              <a:solidFill>
                <a:srgbClr val="00338D"/>
              </a:solidFill>
            </c:spPr>
          </c:dPt>
          <c:dPt>
            <c:idx val="1"/>
            <c:spPr>
              <a:solidFill>
                <a:srgbClr val="483698"/>
              </a:solidFill>
            </c:spPr>
          </c:dPt>
          <c:dPt>
            <c:idx val="2"/>
            <c:spPr>
              <a:solidFill>
                <a:srgbClr val="470A68"/>
              </a:solidFill>
            </c:spPr>
          </c:dPt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864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 vs score</c:v>
                </c:pt>
              </c:strCache>
            </c:strRef>
          </c:tx>
          <c:spPr>
            <a:solidFill>
              <a:srgbClr val="00338D"/>
            </a:solidFill>
            <a:ln w="47625">
              <a:noFill/>
            </a:ln>
          </c:spPr>
          <c:xVal>
            <c:numRef>
              <c:f>Sheet1!$A$2:$A$7</c:f>
              <c:numCache>
                <c:formatCode>General</c:formatCode>
                <c:ptCount val="6"/>
                <c:pt idx="0">
                  <c:v>25.0</c:v>
                </c:pt>
                <c:pt idx="1">
                  <c:v>30.0</c:v>
                </c:pt>
                <c:pt idx="2">
                  <c:v>35.0</c:v>
                </c:pt>
                <c:pt idx="3">
                  <c:v>28.0</c:v>
                </c:pt>
                <c:pt idx="4">
                  <c:v>22.0</c:v>
                </c:pt>
                <c:pt idx="5">
                  <c:v>40.0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85.0</c:v>
                </c:pt>
                <c:pt idx="1">
                  <c:v>90.0</c:v>
                </c:pt>
                <c:pt idx="2">
                  <c:v>75.0</c:v>
                </c:pt>
                <c:pt idx="3">
                  <c:v>88.0</c:v>
                </c:pt>
                <c:pt idx="4">
                  <c:v>95.0</c:v>
                </c:pt>
                <c:pt idx="5">
                  <c:v>70.0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864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 vs age</c:v>
                </c:pt>
              </c:strCache>
            </c:strRef>
          </c:tx>
          <c:spPr>
            <a:solidFill>
              <a:srgbClr val="00338D"/>
            </a:solidFill>
            <a:ln w="47625">
              <a:noFill/>
            </a:ln>
          </c:spPr>
          <c:xVal>
            <c:numRef>
              <c:f>Sheet1!$A$2:$A$7</c:f>
              <c:numCache>
                <c:formatCode>General</c:formatCode>
                <c:ptCount val="6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7.0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25.0</c:v>
                </c:pt>
                <c:pt idx="1">
                  <c:v>30.0</c:v>
                </c:pt>
                <c:pt idx="2">
                  <c:v>35.0</c:v>
                </c:pt>
                <c:pt idx="3">
                  <c:v>28.0</c:v>
                </c:pt>
                <c:pt idx="4">
                  <c:v>22.0</c:v>
                </c:pt>
                <c:pt idx="5">
                  <c:v>40.0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864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 vs score</c:v>
                </c:pt>
              </c:strCache>
            </c:strRef>
          </c:tx>
          <c:spPr>
            <a:solidFill>
              <a:srgbClr val="00338D"/>
            </a:solidFill>
            <a:ln w="47625">
              <a:noFill/>
            </a:ln>
          </c:spPr>
          <c:xVal>
            <c:numRef>
              <c:f>Sheet1!$A$2:$A$8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85</c:v>
                </c:pt>
                <c:pt idx="1">
                  <c:v>90</c:v>
                </c:pt>
                <c:pt idx="2">
                  <c:v>75</c:v>
                </c:pt>
                <c:pt idx="3">
                  <c:v>88</c:v>
                </c:pt>
                <c:pt idx="4">
                  <c:v>95</c:v>
                </c:pt>
                <c:pt idx="5">
                  <c:v>80</c:v>
                </c:pt>
                <c:pt idx="6">
                  <c:v>70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864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Comprehensive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latin typeface="Calibri"/>
              </a:defRPr>
            </a:pPr>
            <a:r>
              <a:t>Total Records: 7</a:t>
            </a:r>
          </a:p>
          <a:p>
            <a:pPr>
              <a:defRPr b="1">
                <a:latin typeface="Calibri"/>
              </a:defRPr>
            </a:pPr>
            <a:r>
              <a:t>Total Columns: 5</a:t>
            </a:r>
          </a:p>
          <a:p>
            <a:pPr>
              <a:defRPr b="1">
                <a:latin typeface="Calibri"/>
              </a:defRPr>
            </a:pPr>
            <a:r>
              <a:t>Total Missing Values: 1</a:t>
            </a:r>
          </a:p>
          <a:p>
            <a:pPr>
              <a:defRPr b="1">
                <a:latin typeface="Calibri"/>
              </a:defRPr>
            </a:pPr>
            <a:r>
              <a:t>Overall Missing Percentage: 2.86%</a:t>
            </a:r>
          </a:p>
          <a:p/>
          <a:p>
            <a:pPr>
              <a:defRPr>
                <a:latin typeface="Calibri"/>
              </a:defRPr>
            </a:pPr>
            <a:r>
              <a:t>Data distribution suggests a potential correlation between numeric variables.</a:t>
            </a:r>
          </a:p>
          <a:p>
            <a:pPr>
              <a:defRPr>
                <a:latin typeface="Calibri"/>
              </a:defRPr>
            </a:pPr>
            <a:r>
              <a:t>Recommendation: Visualize the distribution of key metrics to identify skewness.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Summary: id (Identifier)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Total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Unique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Missing Values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latin typeface="Calibri"/>
              </a:defRPr>
            </a:pPr>
            <a:r>
              <a:t>Summary:</a:t>
            </a:r>
          </a:p>
          <a:p>
            <a:pPr lvl="1">
              <a:defRPr>
                <a:latin typeface="Calibri"/>
              </a:defRPr>
            </a:pPr>
            <a:r>
              <a:t>name is a categorical variable with 7 unique values, dominated by 'Alice'.</a:t>
            </a:r>
          </a:p>
          <a:p>
            <a:pPr>
              <a:defRPr b="1">
                <a:latin typeface="Calibri"/>
              </a:defRPr>
            </a:pPr>
            <a:r>
              <a:t>Detailed Analysis:</a:t>
            </a:r>
          </a:p>
          <a:p>
            <a:pPr lvl="1">
              <a:defRPr>
                <a:latin typeface="Calibri"/>
              </a:defRPr>
            </a:pPr>
            <a:r>
              <a:t>The categorical variable 'name' has 7 distinct categories across 7 records. The most frequent category is 'Alice', appearing 1 times, which accounts for 14.3% of the data. Every record has a unique value, suggesting this might be an identifier.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Frequency Table: name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Percentage (%)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14.29%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14.29%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Charlie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14.29%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David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14.29%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14.29%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Frank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14.29%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Grace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14.29%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Frequency (Categorical): name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latin typeface="Calibri"/>
              </a:defRPr>
            </a:pPr>
            <a:r>
              <a:t>Summary:</a:t>
            </a:r>
          </a:p>
          <a:p>
            <a:pPr lvl="1">
              <a:defRPr>
                <a:latin typeface="Calibri"/>
              </a:defRPr>
            </a:pPr>
            <a:r>
              <a:t>age is a positively skewed numeric variable with an average of 30.00.</a:t>
            </a:r>
          </a:p>
          <a:p>
            <a:pPr>
              <a:defRPr b="1">
                <a:latin typeface="Calibri"/>
              </a:defRPr>
            </a:pPr>
            <a:r>
              <a:t>Detailed Analysis:</a:t>
            </a:r>
          </a:p>
          <a:p>
            <a:pPr lvl="1">
              <a:defRPr>
                <a:latin typeface="Calibri"/>
              </a:defRPr>
            </a:pPr>
            <a:r>
              <a:t>The variable 'age' contains 6 observations. It ranges from a minimum of 22.00 to a maximum of 40.00, with a standard deviation of 6.60. The average value is 30.00, while the median is 29.00. The mean is higher than the median, indicating a right-skewed distribution with potential high-value outliers. The data is relatively consistent (CV: 22.0%).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(Numeric): age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latin typeface="Calibri"/>
              </a:defRPr>
            </a:pPr>
            <a:r>
              <a:t>Summary:</a:t>
            </a:r>
          </a:p>
          <a:p>
            <a:pPr lvl="1">
              <a:defRPr>
                <a:latin typeface="Calibri"/>
              </a:defRPr>
            </a:pPr>
            <a:r>
              <a:t>score is a negatively skewed numeric variable with an average of 83.29.</a:t>
            </a:r>
          </a:p>
          <a:p>
            <a:pPr>
              <a:defRPr b="1">
                <a:latin typeface="Calibri"/>
              </a:defRPr>
            </a:pPr>
            <a:r>
              <a:t>Detailed Analysis:</a:t>
            </a:r>
          </a:p>
          <a:p>
            <a:pPr lvl="1">
              <a:defRPr>
                <a:latin typeface="Calibri"/>
              </a:defRPr>
            </a:pPr>
            <a:r>
              <a:t>The variable 'score' contains 7 observations. It ranges from a minimum of 70.00 to a maximum of 95.00, with a standard deviation of 8.79. The average value is 83.29, while the median is 85.00. The mean is lower than the median, indicating a left-skewed distribution. The data is relatively consistent (CV: 10.6%).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Frequency (Categorical): score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>
                <a:latin typeface="Calibri"/>
              </a:defRPr>
            </a:pPr>
            <a:r>
              <a:t>Summary:</a:t>
            </a:r>
          </a:p>
          <a:p>
            <a:pPr lvl="1">
              <a:defRPr>
                <a:latin typeface="Calibri"/>
              </a:defRPr>
            </a:pPr>
            <a:r>
              <a:t>category is a categorical variable with 3 unique values, dominated by 'A'.</a:t>
            </a:r>
          </a:p>
          <a:p>
            <a:pPr>
              <a:defRPr b="1">
                <a:latin typeface="Calibri"/>
              </a:defRPr>
            </a:pPr>
            <a:r>
              <a:t>Detailed Analysis:</a:t>
            </a:r>
          </a:p>
          <a:p>
            <a:pPr lvl="1">
              <a:defRPr>
                <a:latin typeface="Calibri"/>
              </a:defRPr>
            </a:pPr>
            <a:r>
              <a:t>The categorical variable 'category' has 3 distinct categories across 7 records. The most frequent category is 'A', appearing 3 times, which accounts for 42.9% of the data. With fewer than 5 unique values, this variable is suitable for use as a grouping dimension in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Frequency Table: category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182880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Percentage (%)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42.86%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28.57%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8">
                          <a:latin typeface="Calibri"/>
                        </a:defRPr>
                      </a:pPr>
                      <a:r>
                        <a:t>28.57%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Frequency (Categorical): category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Proportion (Categorical): category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Matrix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58511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 vs score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 vs age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 vs score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